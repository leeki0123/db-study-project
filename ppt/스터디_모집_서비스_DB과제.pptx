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 Committed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c=10 j=4</c:v>
                  </c:pt>
                  <c:pt idx="1">
                    <c:v>c=10 j=8</c:v>
                  </c:pt>
                  <c:pt idx="2">
                    <c:v>c=50 j=4</c:v>
                  </c:pt>
                  <c:pt idx="3">
                    <c:v>c=50 j=8</c:v>
                  </c:pt>
                  <c:pt idx="4">
                    <c:v>c=100 j=8</c:v>
                  </c:pt>
                  <c:pt idx="5">
                    <c:v>c=100 j=16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5910</c:v>
                </c:pt>
                <c:pt idx="1">
                  <c:v>5572</c:v>
                </c:pt>
                <c:pt idx="2">
                  <c:v>7571</c:v>
                </c:pt>
                <c:pt idx="3">
                  <c:v>7942</c:v>
                </c:pt>
                <c:pt idx="4">
                  <c:v>7794</c:v>
                </c:pt>
                <c:pt idx="5">
                  <c:v>7891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Serializable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c=10 j=4</c:v>
                  </c:pt>
                  <c:pt idx="1">
                    <c:v>c=10 j=8</c:v>
                  </c:pt>
                  <c:pt idx="2">
                    <c:v>c=50 j=4</c:v>
                  </c:pt>
                  <c:pt idx="3">
                    <c:v>c=50 j=8</c:v>
                  </c:pt>
                  <c:pt idx="4">
                    <c:v>c=100 j=8</c:v>
                  </c:pt>
                  <c:pt idx="5">
                    <c:v>c=100 j=16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4231</c:v>
                </c:pt>
                <c:pt idx="1">
                  <c:v>3889</c:v>
                </c:pt>
                <c:pt idx="2">
                  <c:v>5215</c:v>
                </c:pt>
                <c:pt idx="3">
                  <c:v>5685</c:v>
                </c:pt>
                <c:pt idx="4">
                  <c:v>5407</c:v>
                </c:pt>
                <c:pt idx="5">
                  <c:v>5323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TPS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제목 슬라이드입니다. 프로젝트 이름과 기술 스택을 소개합니다.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스터디 모집 서비스를 주제로 DB 설계, 백엔드 구현, 벤치마킹 세 영역을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시나리오 5단계입니다. 정원 초과와 격리 수준 비교가 이 프로젝트의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3개 테이블과 10개 API로 구성됩니다.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3개 테이블 스키마입니다. 각 컬럼의 타입과 제약 조건을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users와 study_groups는 1:N(생성) 관계이며, 참여 관점에서는 N:M 관계입니다. study_members 중간 테이블로 분리했습니다.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비정규화 시 삽입/갱신/삭제 이상이 발생합니다. 3개 테이블로 분리해 3NF를 달성했습니다.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10개 REST API입니다. POST /groups/:id/join이 트랜잭션 핵심 엔드포인트입니다.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트랜잭션 6단계 흐름입니다. isolationLevel 파라미터로 RC/Serializable을 선택할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pgbench로 3×3=9 조합×2 격리수준 = 18케이스, 각 60초 실행합니다.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RC가 Serializable 대비 약 28~30% 높은 TPS를 보였습니다.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RC는 TPS 우위, Serializable은 정합성 우위입니다. ON CONFLICT DO NOTHING으로 두 격리 수준 모두 abort 없이 처리됐습니다.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 슬라이드입니다. 성능-정합성 트레이드오프와 ON CONFLICT 역할을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스터디 모집 서비스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기반 데이터베이스 웹 서비스 과제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5486400" cy="45720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·  </a:t>
            </a:r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 ·  </a:t>
            </a:r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·  </a:t>
            </a:r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pgbench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B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🗄️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(Docker)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테이블 정규화 스키마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인덱스·FK·CHECK 제약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B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234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37560" y="24231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pg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API 10개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 + 격리 수준 제어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EB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234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3504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벤치마킹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72200" y="242316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pgbench 워크로드 비교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 vs Serializable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· Latency · Abort율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시나리오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1508760" cy="3200400"/>
          </a:xfrm>
          <a:prstGeom prst="roundRect">
            <a:avLst>
              <a:gd name="adj" fmla="val 6061"/>
            </a:avLst>
          </a:prstGeom>
          <a:solidFill>
            <a:srgbClr val="EB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등록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이름·이메일 입력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01952" y="2103120"/>
            <a:ext cx="12801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1097280"/>
            <a:ext cx="1508760" cy="3200400"/>
          </a:xfrm>
          <a:prstGeom prst="roundRect">
            <a:avLst>
              <a:gd name="adj" fmla="val 6061"/>
            </a:avLst>
          </a:prstGeom>
          <a:solidFill>
            <a:srgbClr val="EB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5740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57400" y="17830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스터디 생성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2423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제목·인원·설명 설정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93592" y="2103120"/>
            <a:ext cx="12801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097280"/>
            <a:ext cx="1508760" cy="3200400"/>
          </a:xfrm>
          <a:prstGeom prst="roundRect">
            <a:avLst>
              <a:gd name="adj" fmla="val 6061"/>
            </a:avLst>
          </a:prstGeom>
          <a:solidFill>
            <a:srgbClr val="EB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49040" y="17830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스터디 참여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2423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트랜잭션으로 처리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85232" y="2103120"/>
            <a:ext cx="12801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1097280"/>
            <a:ext cx="1508760" cy="3200400"/>
          </a:xfrm>
          <a:prstGeom prst="roundRect">
            <a:avLst>
              <a:gd name="adj" fmla="val 6061"/>
            </a:avLst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068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40680" y="17830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정원 초과 시 실패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2423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오류 반환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76872" y="2103120"/>
            <a:ext cx="128016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1097280"/>
            <a:ext cx="1508760" cy="3200400"/>
          </a:xfrm>
          <a:prstGeom prst="roundRect">
            <a:avLst>
              <a:gd name="adj" fmla="val 6061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0" y="12344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0" y="17830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 수준 비교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2423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vs Serializable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분석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EB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테이블 (3개)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293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정보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study_groups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752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스터디 모집글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study_members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5753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 관계 (복합 PK)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EB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API (10개)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1600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9842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23560" y="1984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/users / /users/:id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36829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23682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/groups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27523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27523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/groups / /groups/:id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13639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3136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/groups/:id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5204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2356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/groups/:id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39044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23560" y="39044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/groups/:id/join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428853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23560" y="42885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/groups/:id/leave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스키마 설계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2743200" cy="2999232"/>
          </a:xfrm>
          <a:prstGeom prst="roundRect">
            <a:avLst>
              <a:gd name="adj" fmla="val 2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D1E9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98448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BIGSERIAL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554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84248"/>
            <a:ext cx="2743200" cy="457200"/>
          </a:xfrm>
          <a:prstGeom prst="rect">
            <a:avLst/>
          </a:prstGeom>
          <a:solidFill>
            <a:srgbClr val="E8F4FD"/>
          </a:solidFill>
          <a:ln w="6350">
            <a:solidFill>
              <a:srgbClr val="D1E9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29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98448" y="2029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20299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459736"/>
            <a:ext cx="274320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D1E9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054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98448" y="25054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25054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35224"/>
            <a:ext cx="2743200" cy="457200"/>
          </a:xfrm>
          <a:prstGeom prst="rect">
            <a:avLst/>
          </a:prstGeom>
          <a:solidFill>
            <a:srgbClr val="E8F4FD"/>
          </a:solidFill>
          <a:ln w="6350">
            <a:solidFill>
              <a:srgbClr val="D1E9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809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98448" y="29809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94560" y="29809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NOW()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960120"/>
            <a:ext cx="2743200" cy="3950208"/>
          </a:xfrm>
          <a:prstGeom prst="roundRect">
            <a:avLst>
              <a:gd name="adj" fmla="val 2667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study_groups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246120" y="1508760"/>
            <a:ext cx="274320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D1E9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70248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BIGSERIAL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1554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46120" y="1984248"/>
            <a:ext cx="2743200" cy="457200"/>
          </a:xfrm>
          <a:prstGeom prst="rect">
            <a:avLst/>
          </a:prstGeom>
          <a:solidFill>
            <a:srgbClr val="E8F4FD"/>
          </a:solidFill>
          <a:ln w="6350">
            <a:solidFill>
              <a:srgbClr val="D1E9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029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creator_id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70248" y="2029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20299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users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2459736"/>
            <a:ext cx="274320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D1E9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25054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70248" y="25054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66360" y="25054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46120" y="2935224"/>
            <a:ext cx="2743200" cy="457200"/>
          </a:xfrm>
          <a:prstGeom prst="rect">
            <a:avLst/>
          </a:prstGeom>
          <a:solidFill>
            <a:srgbClr val="E8F4FD"/>
          </a:solidFill>
          <a:ln w="6350">
            <a:solidFill>
              <a:srgbClr val="D1E9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29809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70248" y="29809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66360" y="29809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46120" y="3410712"/>
            <a:ext cx="274320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D1E9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3456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max_members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70248" y="34564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66360" y="345643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2~100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46120" y="3886200"/>
            <a:ext cx="2743200" cy="457200"/>
          </a:xfrm>
          <a:prstGeom prst="rect">
            <a:avLst/>
          </a:prstGeom>
          <a:solidFill>
            <a:srgbClr val="E8F4FD"/>
          </a:solidFill>
          <a:ln w="6350">
            <a:solidFill>
              <a:srgbClr val="D1E9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37560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270248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66360" y="39319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NOW()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63640" y="960120"/>
            <a:ext cx="2743200" cy="2523744"/>
          </a:xfrm>
          <a:prstGeom prst="roundRect">
            <a:avLst>
              <a:gd name="adj" fmla="val 2899"/>
            </a:avLst>
          </a:prstGeom>
          <a:solidFill>
            <a:srgbClr val="065A82"/>
          </a:solidFill>
          <a:ln/>
        </p:spPr>
      </p:sp>
      <p:sp>
        <p:nvSpPr>
          <p:cNvPr id="49" name="Text 47"/>
          <p:cNvSpPr/>
          <p:nvPr/>
        </p:nvSpPr>
        <p:spPr>
          <a:xfrm>
            <a:off x="626364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study_members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263640" y="1508760"/>
            <a:ext cx="274320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D1E9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group_id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287768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183880" y="1554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+ PK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63640" y="1984248"/>
            <a:ext cx="2743200" cy="457200"/>
          </a:xfrm>
          <a:prstGeom prst="rect">
            <a:avLst/>
          </a:prstGeom>
          <a:solidFill>
            <a:srgbClr val="E8F4FD"/>
          </a:solidFill>
          <a:ln w="6350">
            <a:solidFill>
              <a:srgbClr val="D1E9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2029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287768" y="2029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183880" y="20299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+ PK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63640" y="2459736"/>
            <a:ext cx="2743200" cy="457200"/>
          </a:xfrm>
          <a:prstGeom prst="rect">
            <a:avLst/>
          </a:prstGeom>
          <a:solidFill>
            <a:srgbClr val="F0F9FF"/>
          </a:solidFill>
          <a:ln w="6350">
            <a:solidFill>
              <a:srgbClr val="D1E9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25054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joined_at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287768" y="250545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TIMESTAMPTZ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183880" y="250545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NOW()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설계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28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92240" y="182880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0" y="1828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study_groups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3474720"/>
            <a:ext cx="2194560" cy="1097280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34747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study_members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2377440"/>
            <a:ext cx="384048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creator_id FK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554480" y="2926080"/>
            <a:ext cx="0" cy="5486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54480" y="3474720"/>
            <a:ext cx="19202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2926080"/>
            <a:ext cx="0" cy="5486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3474720"/>
            <a:ext cx="19202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: M 관계 → study_members 중간 테이블로 분리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 설명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비정규화 (1개 테이블)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user_name, group_id,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group_title, creator_name, joined_at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3865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삽입 이상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670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참여자 없는 스터디 표현 불가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1638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갱신 이상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472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변경 시 여러 행 수정 필요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941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 이상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2245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참여자 삭제 시 스터디 정보 소멸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005840"/>
            <a:ext cx="4206240" cy="3749040"/>
          </a:xfrm>
          <a:prstGeom prst="roundRect">
            <a:avLst>
              <a:gd name="adj" fmla="val 2439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0789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정규화 (3개 테이블)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5819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636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1920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정보만 담당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40487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459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study_groups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743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스터디 정보만 담당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22783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D1FAE5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282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study_members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3566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 관계만 담당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4160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중복 제거, 단일 책임 원칙으로 3NF 달성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CRUD 구현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560320" cy="3749040"/>
          </a:xfrm>
          <a:prstGeom prst="roundRect">
            <a:avLst>
              <a:gd name="adj" fmla="val 3571"/>
            </a:avLst>
          </a:prstGeom>
          <a:solidFill>
            <a:srgbClr val="021B33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194560" cy="475488"/>
          </a:xfrm>
          <a:prstGeom prst="roundRect">
            <a:avLst>
              <a:gd name="adj" fmla="val 11538"/>
            </a:avLst>
          </a:prstGeom>
          <a:solidFill>
            <a:srgbClr val="0D21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194560" cy="475488"/>
          </a:xfrm>
          <a:prstGeom prst="roundRect">
            <a:avLst>
              <a:gd name="adj" fmla="val 11538"/>
            </a:avLst>
          </a:prstGeom>
          <a:solidFill>
            <a:srgbClr val="0D213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4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194560" cy="475488"/>
          </a:xfrm>
          <a:prstGeom prst="roundRect">
            <a:avLst>
              <a:gd name="adj" fmla="val 11538"/>
            </a:avLst>
          </a:prstGeom>
          <a:solidFill>
            <a:srgbClr val="0D213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346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(node-postgres)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2194560" cy="475488"/>
          </a:xfrm>
          <a:prstGeom prst="roundRect">
            <a:avLst>
              <a:gd name="adj" fmla="val 11538"/>
            </a:avLst>
          </a:prstGeom>
          <a:solidFill>
            <a:srgbClr val="0D213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4290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2194560" cy="475488"/>
          </a:xfrm>
          <a:prstGeom prst="roundRect">
            <a:avLst>
              <a:gd name="adj" fmla="val 11538"/>
            </a:avLst>
          </a:prstGeom>
          <a:solidFill>
            <a:srgbClr val="0D2137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2336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 (import/export)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005840"/>
          <a:ext cx="5669280" cy="384048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743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생성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목록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/users/:id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상세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스터디 생성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스터디 목록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/groups/:id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스터디 상세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/groups/:id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스터디 수정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/groups/:id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스터디 삭제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/groups/:id/join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스터디 참여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/groups/:id/leave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참여 취소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트랜잭션 처리 — POST /groups/:id/join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1298448" cy="1280160"/>
          </a:xfrm>
          <a:prstGeom prst="roundRect">
            <a:avLst>
              <a:gd name="adj" fmla="val 5714"/>
            </a:avLst>
          </a:prstGeom>
          <a:solidFill>
            <a:srgbClr val="DBEAF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82496" y="1737360"/>
            <a:ext cx="10972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10512" y="1097280"/>
            <a:ext cx="1298448" cy="1280160"/>
          </a:xfrm>
          <a:prstGeom prst="roundRect">
            <a:avLst>
              <a:gd name="adj" fmla="val 5714"/>
            </a:avLst>
          </a:prstGeom>
          <a:solidFill>
            <a:srgbClr val="CCFBF1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10512" y="11430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56232" y="1572768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ISOLATION LEVEL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27248" y="1737360"/>
            <a:ext cx="10972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55264" y="1097280"/>
            <a:ext cx="1298448" cy="1280160"/>
          </a:xfrm>
          <a:prstGeom prst="roundRect">
            <a:avLst>
              <a:gd name="adj" fmla="val 5714"/>
            </a:avLst>
          </a:prstGeom>
          <a:solidFill>
            <a:srgbClr val="EB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55264" y="11430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00984" y="1572768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사용자·스터디 존재 확인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737360"/>
            <a:ext cx="10972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0016" y="1097280"/>
            <a:ext cx="1298448" cy="1280160"/>
          </a:xfrm>
          <a:prstGeom prst="roundRect">
            <a:avLst>
              <a:gd name="adj" fmla="val 5714"/>
            </a:avLst>
          </a:prstGeom>
          <a:solidFill>
            <a:srgbClr val="EB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0016" y="11430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45736" y="1572768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참여 확인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16752" y="1737360"/>
            <a:ext cx="10972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1097280"/>
            <a:ext cx="1298448" cy="1280160"/>
          </a:xfrm>
          <a:prstGeom prst="roundRect">
            <a:avLst>
              <a:gd name="adj" fmla="val 5714"/>
            </a:avLst>
          </a:prstGeom>
          <a:solidFill>
            <a:srgbClr val="EB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44768" y="11430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90488" y="1572768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인원 vs 정원 비교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61504" y="1737360"/>
            <a:ext cx="109728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1097280"/>
            <a:ext cx="1298448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0" y="11430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35240" y="1572768"/>
            <a:ext cx="1207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study_members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28346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COMMIT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0" y="28346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ROLLBACK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 수준: READ COMMITTED (기본)  또는  SERIALIZABLE (요청 본문으로 선택)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벤치마킹 설계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78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pgbench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78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시간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78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50 / 100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0" y="10058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078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 / 16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23160"/>
          <a:ext cx="859536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6583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지표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초당 처리한 트랜잭션 수 (높을수록 좋음)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트랜잭션 완료 평균 시간 (낮을수록 좋음)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Abort율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실패/롤백 비율 (낮을수록 좋음)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2개 워크로드: join_workload.sql (RC)  ·  join_workload_serializable.sql (SERIALIZABLE)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벤치마킹 결과 — TPS 비교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274320" y="960120"/>
          <a:ext cx="8595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Abort율: 양쪽 모두 0.000%  (ON CONFLICT DO NOTHING으로 충돌 흡수)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분석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EBF5F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Committed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c=50 최고 TPS: 7,942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c=100 avg Latency: ~13ms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Abort율: 0%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커밋된 데이터만 읽음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충돌 감지 오버헤드 없음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처리량 우위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E8FDF5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05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c=50 최고 TPS: 5,685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c=100 avg Latency: ~18ms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Abort율: 0% (ON CONFLICT 덕분)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 의존 관계 추적 오버헤드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약 28~30% 낮음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강한 정합성 보장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09728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0A2F4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15214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성능 vs 정합성 트레이드오프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RC는 TPS 약 28~30% 우위, Serializable은 더 강한 정합성 보장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0A2F4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34086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ON CONFLICT DO NOTHING의 역할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76148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양쪽 격리 수준에서 Abort 0% 달성 — 충돌을 에러 없이 흡수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7863840" cy="1005840"/>
          </a:xfrm>
          <a:prstGeom prst="roundRect">
            <a:avLst>
              <a:gd name="adj" fmla="val 9091"/>
            </a:avLst>
          </a:prstGeom>
          <a:solidFill>
            <a:srgbClr val="0A2F4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352958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더 복잡한 시나리오에서의 차이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95020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CONFLICT 없는 엄격한 정원 제어 시 Serializable abort 차이 명확해질 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스터디 모집 서비스 - PostgreSQL 기반 DB 과제</dc:title>
  <dc:subject>PptxGenJS Presentation</dc:subject>
  <dc:creator>PptxGenJS</dc:creator>
  <cp:lastModifiedBy>PptxGenJS</cp:lastModifiedBy>
  <cp:revision>1</cp:revision>
  <dcterms:created xsi:type="dcterms:W3CDTF">2026-06-10T09:49:58Z</dcterms:created>
  <dcterms:modified xsi:type="dcterms:W3CDTF">2026-06-10T09:49:58Z</dcterms:modified>
</cp:coreProperties>
</file>